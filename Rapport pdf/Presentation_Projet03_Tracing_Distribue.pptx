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587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basée sur les rapports L1 (Architecture) et L4 (Analyse de 5 traces) rédigés par ILOUMBOU Roland Junior et ISSAMBOU Jean Samuel, encadrés par M. ONDJIBOU.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en 7 parties suivant la structure des deux rapports L1 et L4 fournis.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Reprendre exactement la problématique du rapport L1 section 1.1 et les 7 objectifs de la section 1.2.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le rôle de chaque composant comme dans le tableau section 2.2 du rapport L1.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chaîne d'appels à 4 niveaux : c'est cette profondeur qui rend les scénarios de latence intéressants à analyser.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opentelemetry-instrumentation-requests injecte automatiquement le header traceparent. Détailler les 3 pipelines indépendants du collector.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dashboard inclut aussi un panneau Logs Loki avec TraceID cliquable, comme mentionné dans le rapport.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Vue d'ensemble. Les détails de chaque scénario (waterfall, identification, recommandation) sont développés dans la slide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Scénario 1 : montrer le waterfall avec les 4 spans check_item en cascade. Scénario 2 : montrer le log Loki 'Attente verrou DB : 0.62s' trouvé par corrélation trace_id.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Scénario 4 : noter que le mécanisme de fallback existe déjà mais ne résout pas la latence perçue côté utilisateur. Scénario 5 : event OTel slow_query_detected contient directement la recommandation.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chiffre clé de la conclusion du rapport L4 : le MTTD passe de 30-60 minutes à moins de 5 minutes grâce à la corrélation automatique des 3 piliers d'observabilité.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Rappeler que le script start.sh automatise tout le démarrage et que test_load.py génère le trafic nécessaire pour produire les traces analysées dans le rapport L4.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Clôture. Garder Grafana Explore ouvert pour répondre aux questions avec les vraies traces si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B8FD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00C9A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9BBF"/>
                </a:solidFill>
              </a:rPr>
              <a:t>INSTITUT AFRICAIN D'INFORMATIQUE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9BBF"/>
                </a:solidFill>
              </a:rPr>
              <a:t>Établissement Inter-État </a:t>
            </a:r>
            <a:r>
              <a:rPr lang="en-US" sz="900" i="1" dirty="0" err="1">
                <a:solidFill>
                  <a:srgbClr val="7A9BBF"/>
                </a:solidFill>
              </a:rPr>
              <a:t>d'enseignement</a:t>
            </a:r>
            <a:r>
              <a:rPr lang="en-US" sz="900" i="1" dirty="0">
                <a:solidFill>
                  <a:srgbClr val="7A9BBF"/>
                </a:solidFill>
              </a:rPr>
              <a:t> </a:t>
            </a:r>
            <a:r>
              <a:rPr lang="en-US" sz="900" i="1" dirty="0" err="1">
                <a:solidFill>
                  <a:srgbClr val="7A9BBF"/>
                </a:solidFill>
              </a:rPr>
              <a:t>supérieur</a:t>
            </a:r>
            <a:r>
              <a:rPr lang="en-US" sz="900" i="1" dirty="0">
                <a:solidFill>
                  <a:srgbClr val="7A9BBF"/>
                </a:solidFill>
              </a:rPr>
              <a:t> /  Libreville, Gabon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14600" y="1051560"/>
            <a:ext cx="4114800" cy="365760"/>
          </a:xfrm>
          <a:prstGeom prst="rect">
            <a:avLst/>
          </a:prstGeom>
          <a:solidFill>
            <a:srgbClr val="1B8FDB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E-Service Linux  ·  Projet Pratique 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F4FD"/>
                </a:solidFill>
              </a:rPr>
              <a:t>Distributed Tracing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B8FDB"/>
                </a:solidFill>
              </a:rPr>
              <a:t>avec OpenTelemetry, Grafana Tempo &amp; Grafana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971800" y="3063240"/>
            <a:ext cx="320040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918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9BBF"/>
                </a:solidFill>
              </a:rPr>
              <a:t>Rédigé par : 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8FDB"/>
                </a:solidFill>
              </a:rPr>
              <a:t>ILOUMBOU Roland Junior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ISSAMBOU Jean Samuel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2918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9BBF"/>
                </a:solidFill>
              </a:rPr>
              <a:t>Encadré par : 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8F4FD"/>
                </a:solidFill>
              </a:rPr>
              <a:t>M. ONDJIBOU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A9BBF"/>
                </a:solidFill>
              </a:rPr>
              <a:t>Formateur à IAI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9BBF"/>
                </a:solidFill>
              </a:rPr>
              <a:t>Étudiants en INGC2  /  Session 2025-2026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26280"/>
            <a:ext cx="502920" cy="50292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6123D45-0ECF-5E4C-8E2D-4B9B730F4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654" y="182037"/>
            <a:ext cx="1848144" cy="1143562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A45CAF6B-C91F-64C8-E3F6-A6027C208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536" y="206017"/>
            <a:ext cx="1848144" cy="11435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E"/>
                </a:solidFill>
              </a:rPr>
              <a:t>Plan de la présentation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6928" y="1225296"/>
            <a:ext cx="548640" cy="548640"/>
          </a:xfrm>
          <a:prstGeom prst="ellipse">
            <a:avLst/>
          </a:prstGeom>
          <a:solidFill>
            <a:srgbClr val="1B8FDB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25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34440" y="11155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E"/>
                </a:solidFill>
              </a:rPr>
              <a:t>Contexte &amp; Objectifs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4813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7A9BBF"/>
                </a:solidFill>
              </a:rPr>
              <a:t>Migration Jaeger → Tempo, unification observabilité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00600" y="1024128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10328" y="1225296"/>
            <a:ext cx="548640" cy="548640"/>
          </a:xfrm>
          <a:prstGeom prst="ellipse">
            <a:avLst/>
          </a:prstGeom>
          <a:solidFill>
            <a:srgbClr val="1B8FDB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1225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11155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E"/>
                </a:solidFill>
              </a:rPr>
              <a:t>Architecture Globale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77840" y="14813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7A9BBF"/>
                </a:solidFill>
              </a:rPr>
              <a:t>OTel Collector, Tempo, Loki, Prometheus, Grafana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121408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2322576"/>
            <a:ext cx="548640" cy="548640"/>
          </a:xfrm>
          <a:prstGeom prst="ellipse">
            <a:avLst/>
          </a:prstGeom>
          <a:solidFill>
            <a:srgbClr val="1B8FDB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22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2128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E"/>
                </a:solidFill>
              </a:rPr>
              <a:t>Topologie des Microservices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25786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7A9BBF"/>
                </a:solidFill>
              </a:rPr>
              <a:t>4 services et flux d'une commande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121408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0328" y="2322576"/>
            <a:ext cx="548640" cy="548640"/>
          </a:xfrm>
          <a:prstGeom prst="ellipse">
            <a:avLst/>
          </a:prstGeom>
          <a:solidFill>
            <a:srgbClr val="1B8FDB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2322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22128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E"/>
                </a:solidFill>
              </a:rPr>
              <a:t>Instrumentation OpenTelemetry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25786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7A9BBF"/>
                </a:solidFill>
              </a:rPr>
              <a:t>Propagation W3C, structure des spans, pipelines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218688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" y="3419856"/>
            <a:ext cx="548640" cy="548640"/>
          </a:xfrm>
          <a:prstGeom prst="ellipse">
            <a:avLst/>
          </a:prstGeom>
          <a:solidFill>
            <a:srgbClr val="1B8FDB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3419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33101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E"/>
                </a:solidFill>
              </a:rPr>
              <a:t>Corrélation dans Grafana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36758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7A9BBF"/>
                </a:solidFill>
              </a:rPr>
              <a:t>Datasources, Dashboard RED, Service Graph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3218688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0328" y="3419856"/>
            <a:ext cx="548640" cy="548640"/>
          </a:xfrm>
          <a:prstGeom prst="ellipse">
            <a:avLst/>
          </a:prstGeom>
          <a:solidFill>
            <a:srgbClr val="1B8FDB"/>
          </a:solidFill>
          <a:ln/>
        </p:spPr>
      </p:sp>
      <p:sp>
        <p:nvSpPr>
          <p:cNvPr id="30" name="Text 28"/>
          <p:cNvSpPr/>
          <p:nvPr/>
        </p:nvSpPr>
        <p:spPr>
          <a:xfrm>
            <a:off x="4910328" y="3419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33101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E"/>
                </a:solidFill>
              </a:rPr>
              <a:t>5 Scénarios de Latence Analysés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77840" y="36758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7A9BBF"/>
                </a:solidFill>
              </a:rPr>
              <a:t>N+1, Lock, Retry Storm, Timeout, Full Scan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315968"/>
            <a:ext cx="8686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6928" y="4517136"/>
            <a:ext cx="548640" cy="548640"/>
          </a:xfrm>
          <a:prstGeom prst="ellipse">
            <a:avLst/>
          </a:prstGeom>
          <a:solidFill>
            <a:srgbClr val="1B8FDB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4517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34440" y="44074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E"/>
                </a:solidFill>
              </a:rPr>
              <a:t>Synthèse &amp; Déploiement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234440" y="47731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7A9BBF"/>
                </a:solidFill>
              </a:rPr>
              <a:t>Gains mesurés, procédure Debian/VMware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 /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F4FD"/>
                </a:solidFill>
              </a:rPr>
              <a:t>Contexte &amp; Objectifs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383280"/>
          </a:xfrm>
          <a:prstGeom prst="rect">
            <a:avLst/>
          </a:prstGeom>
          <a:solidFill>
            <a:srgbClr val="111D33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855"/>
                </a:solidFill>
              </a:rPr>
              <a:t>Problématique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</a:rPr>
              <a:t>Une API e-commerce composée de 4 microservices Python/Flask souffre de latences inexpliquées. L'ancien système Jaeger n'est pas intégré avec les outils de métriques (Prometheus) et de logs.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00C9A7"/>
                </a:solidFill>
              </a:rPr>
              <a:t>Mission : migrer vers Grafana Tempo et unifier toute l'observabilité dans Grafana 10.x.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3383280"/>
          </a:xfrm>
          <a:prstGeom prst="rect">
            <a:avLst/>
          </a:prstGeom>
          <a:solidFill>
            <a:srgbClr val="0D2237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Objectifs du projet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901952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Déployer Grafana Tempo (remplace Jaeger)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Instrumenter 4 microservices avec OTel SDK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Configurer la propagation W3C TraceContext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Déployer Grafana Loki + Promtail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Configurer 3 datasources avec corrélation TraceID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Créer un dashboard RED avec liens trace-to-logs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Analyser 5 scénarios de latence via Grafana Explore</a:t>
            </a:r>
            <a:endParaRPr lang="en-US" sz="1050" dirty="0"/>
          </a:p>
        </p:txBody>
      </p:sp>
      <p:sp>
        <p:nvSpPr>
          <p:cNvPr id="15" name="Shape 19">
            <a:extLst>
              <a:ext uri="{FF2B5EF4-FFF2-40B4-BE49-F238E27FC236}">
                <a16:creationId xmlns:a16="http://schemas.microsoft.com/office/drawing/2014/main" id="{B1AC1ED7-C092-2557-0FD4-2E7393B09537}"/>
              </a:ext>
            </a:extLst>
          </p:cNvPr>
          <p:cNvSpPr/>
          <p:nvPr/>
        </p:nvSpPr>
        <p:spPr>
          <a:xfrm>
            <a:off x="8764171" y="4762080"/>
            <a:ext cx="291905" cy="305973"/>
          </a:xfrm>
          <a:prstGeom prst="ellipse">
            <a:avLst/>
          </a:prstGeom>
          <a:solidFill>
            <a:srgbClr val="E55A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9960492-3F23-851E-1CD3-E3F4D016809C}"/>
              </a:ext>
            </a:extLst>
          </p:cNvPr>
          <p:cNvSpPr txBox="1"/>
          <p:nvPr/>
        </p:nvSpPr>
        <p:spPr>
          <a:xfrm>
            <a:off x="6624123" y="4784755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 /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E"/>
                </a:solidFill>
              </a:rPr>
              <a:t>Architecture Globale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BBF"/>
                </a:solidFill>
              </a:rPr>
              <a:t>3 piliers de l'observabilité unifiés dans Grafana : orchestrés via Docker Compose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377440" cy="914400"/>
          </a:xfrm>
          <a:prstGeom prst="rect">
            <a:avLst/>
          </a:prstGeom>
          <a:solidFill>
            <a:srgbClr val="E8F4FD"/>
          </a:solidFill>
          <a:ln w="12700">
            <a:solidFill>
              <a:srgbClr val="1B8F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2763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B8FDB"/>
                </a:solidFill>
              </a:rPr>
              <a:t>MICROSERVICES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0D1B2E"/>
                </a:solidFill>
              </a:rPr>
              <a:t>service-api :5000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0D1B2E"/>
                </a:solidFill>
              </a:rPr>
              <a:t>service-orders :5001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0D1B2E"/>
                </a:solidFill>
              </a:rPr>
              <a:t>service-inventory :5002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0D1B2E"/>
                </a:solidFill>
              </a:rPr>
              <a:t>service-notifications :5003</a:t>
            </a:r>
            <a:endParaRPr lang="en-US" sz="9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9202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606040" y="2231136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BBF"/>
                </a:solidFill>
              </a:rPr>
              <a:t>OTLP gRPC/HTTP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3154680" y="1554480"/>
            <a:ext cx="1737360" cy="9144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1" name="Text 8"/>
          <p:cNvSpPr/>
          <p:nvPr/>
        </p:nvSpPr>
        <p:spPr>
          <a:xfrm>
            <a:off x="3246120" y="162763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OTel Collector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BDD7EE"/>
                </a:solidFill>
              </a:rPr>
              <a:t>:4317 gRPC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BDD7EE"/>
                </a:solidFill>
              </a:rPr>
              <a:t>:4318 HTTP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920240"/>
            <a:ext cx="292608" cy="2926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532120" y="1554480"/>
            <a:ext cx="1828800" cy="914400"/>
          </a:xfrm>
          <a:prstGeom prst="rect">
            <a:avLst/>
          </a:prstGeom>
          <a:solidFill>
            <a:srgbClr val="FFF5E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23560" y="162763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BACKENDS</a:t>
            </a:r>
            <a:endParaRPr lang="en-US" sz="950" dirty="0"/>
          </a:p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</a:rPr>
              <a:t>Tempo :3200 (traces)</a:t>
            </a:r>
            <a:endParaRPr lang="en-US" sz="950" dirty="0"/>
          </a:p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</a:rPr>
              <a:t>Prometheus :9090</a:t>
            </a:r>
            <a:endParaRPr lang="en-US" sz="950" dirty="0"/>
          </a:p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</a:rPr>
              <a:t>Loki :3100 (logs)</a:t>
            </a:r>
            <a:endParaRPr lang="en-US" sz="9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920240"/>
            <a:ext cx="292608" cy="29260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955280" y="1554480"/>
            <a:ext cx="914400" cy="91440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17" name="Text 12"/>
          <p:cNvSpPr/>
          <p:nvPr/>
        </p:nvSpPr>
        <p:spPr>
          <a:xfrm>
            <a:off x="795528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Grafana</a:t>
            </a:r>
            <a:endParaRPr lang="en-US" sz="9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:3000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274320" y="2606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BBF"/>
                </a:solidFill>
              </a:rPr>
              <a:t>Flux Promtail : conteneurs → Promtail :9080 → Loki :3100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274320" y="2926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8FDB"/>
                </a:solidFill>
              </a:rPr>
              <a:t>Composants principaux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274320" y="3246120"/>
            <a:ext cx="1920240" cy="27432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21" name="Text 16"/>
          <p:cNvSpPr/>
          <p:nvPr/>
        </p:nvSpPr>
        <p:spPr>
          <a:xfrm>
            <a:off x="27432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Composant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286000" y="3246120"/>
            <a:ext cx="4663440" cy="27432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23" name="Text 18"/>
          <p:cNvSpPr/>
          <p:nvPr/>
        </p:nvSpPr>
        <p:spPr>
          <a:xfrm>
            <a:off x="2286000" y="3246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Image Docker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040880" y="3246120"/>
            <a:ext cx="1463040" cy="27432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25" name="Text 20"/>
          <p:cNvSpPr/>
          <p:nvPr/>
        </p:nvSpPr>
        <p:spPr>
          <a:xfrm>
            <a:off x="704088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Port(s)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274320" y="3520440"/>
            <a:ext cx="192024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20040" y="3520440"/>
            <a:ext cx="18288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OTel Collector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2286000" y="3520440"/>
            <a:ext cx="466344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331720" y="3520440"/>
            <a:ext cx="45720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otel/opentelemetry-collector-contrib:0.95.0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7040880" y="3520440"/>
            <a:ext cx="146304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086600" y="3520440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4317/4318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274320" y="3753612"/>
            <a:ext cx="1920240" cy="23317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20040" y="3753612"/>
            <a:ext cx="18288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Tempo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2286000" y="3753612"/>
            <a:ext cx="4663440" cy="23317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2331720" y="3753612"/>
            <a:ext cx="45720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grafana/tempo:2.4.1</a:t>
            </a:r>
            <a:endParaRPr lang="en-US" sz="750" dirty="0"/>
          </a:p>
        </p:txBody>
      </p:sp>
      <p:sp>
        <p:nvSpPr>
          <p:cNvPr id="36" name="Shape 31"/>
          <p:cNvSpPr/>
          <p:nvPr/>
        </p:nvSpPr>
        <p:spPr>
          <a:xfrm>
            <a:off x="7040880" y="3753612"/>
            <a:ext cx="1463040" cy="23317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086600" y="3753612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3200/9095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274320" y="3986784"/>
            <a:ext cx="192024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20040" y="3986784"/>
            <a:ext cx="18288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Loki</a:t>
            </a:r>
            <a:endParaRPr lang="en-US" sz="750" dirty="0"/>
          </a:p>
        </p:txBody>
      </p:sp>
      <p:sp>
        <p:nvSpPr>
          <p:cNvPr id="40" name="Shape 35"/>
          <p:cNvSpPr/>
          <p:nvPr/>
        </p:nvSpPr>
        <p:spPr>
          <a:xfrm>
            <a:off x="2286000" y="3986784"/>
            <a:ext cx="466344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2331720" y="3986784"/>
            <a:ext cx="45720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grafana/loki:2.9.4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7040880" y="3986784"/>
            <a:ext cx="146304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086600" y="3986784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3100</a:t>
            </a:r>
            <a:endParaRPr lang="en-US" sz="750" dirty="0"/>
          </a:p>
        </p:txBody>
      </p:sp>
      <p:sp>
        <p:nvSpPr>
          <p:cNvPr id="44" name="Shape 39"/>
          <p:cNvSpPr/>
          <p:nvPr/>
        </p:nvSpPr>
        <p:spPr>
          <a:xfrm>
            <a:off x="274320" y="4219956"/>
            <a:ext cx="1920240" cy="23317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20040" y="4219956"/>
            <a:ext cx="18288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Promtail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2286000" y="4219956"/>
            <a:ext cx="4663440" cy="23317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331720" y="4219956"/>
            <a:ext cx="45720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grafana/promtail:2.9.4</a:t>
            </a:r>
            <a:endParaRPr lang="en-US" sz="750" dirty="0"/>
          </a:p>
        </p:txBody>
      </p:sp>
      <p:sp>
        <p:nvSpPr>
          <p:cNvPr id="48" name="Shape 43"/>
          <p:cNvSpPr/>
          <p:nvPr/>
        </p:nvSpPr>
        <p:spPr>
          <a:xfrm>
            <a:off x="7040880" y="4219956"/>
            <a:ext cx="1463040" cy="23317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086600" y="4219956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9080</a:t>
            </a:r>
            <a:endParaRPr lang="en-US" sz="750" dirty="0"/>
          </a:p>
        </p:txBody>
      </p:sp>
      <p:sp>
        <p:nvSpPr>
          <p:cNvPr id="50" name="Shape 45"/>
          <p:cNvSpPr/>
          <p:nvPr/>
        </p:nvSpPr>
        <p:spPr>
          <a:xfrm>
            <a:off x="274320" y="4453128"/>
            <a:ext cx="192024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320040" y="4453128"/>
            <a:ext cx="18288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750" dirty="0"/>
          </a:p>
        </p:txBody>
      </p:sp>
      <p:sp>
        <p:nvSpPr>
          <p:cNvPr id="52" name="Shape 47"/>
          <p:cNvSpPr/>
          <p:nvPr/>
        </p:nvSpPr>
        <p:spPr>
          <a:xfrm>
            <a:off x="2286000" y="4453128"/>
            <a:ext cx="466344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2331720" y="4453128"/>
            <a:ext cx="45720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prom/prometheus:v2.50.1</a:t>
            </a:r>
            <a:endParaRPr lang="en-US" sz="750" dirty="0"/>
          </a:p>
        </p:txBody>
      </p:sp>
      <p:sp>
        <p:nvSpPr>
          <p:cNvPr id="54" name="Shape 49"/>
          <p:cNvSpPr/>
          <p:nvPr/>
        </p:nvSpPr>
        <p:spPr>
          <a:xfrm>
            <a:off x="7040880" y="4453128"/>
            <a:ext cx="146304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7086600" y="4453128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9090</a:t>
            </a:r>
            <a:endParaRPr lang="en-US" sz="750" dirty="0"/>
          </a:p>
        </p:txBody>
      </p:sp>
      <p:sp>
        <p:nvSpPr>
          <p:cNvPr id="56" name="Shape 51"/>
          <p:cNvSpPr/>
          <p:nvPr/>
        </p:nvSpPr>
        <p:spPr>
          <a:xfrm>
            <a:off x="274320" y="4686300"/>
            <a:ext cx="1920240" cy="23317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20040" y="4686300"/>
            <a:ext cx="18288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10.x</a:t>
            </a:r>
            <a:endParaRPr lang="en-US" sz="750" dirty="0"/>
          </a:p>
        </p:txBody>
      </p:sp>
      <p:sp>
        <p:nvSpPr>
          <p:cNvPr id="58" name="Shape 53"/>
          <p:cNvSpPr/>
          <p:nvPr/>
        </p:nvSpPr>
        <p:spPr>
          <a:xfrm>
            <a:off x="2286000" y="4686300"/>
            <a:ext cx="4663440" cy="23317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2331720" y="4686300"/>
            <a:ext cx="45720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grafana/grafana:10.4.0</a:t>
            </a:r>
            <a:endParaRPr lang="en-US" sz="750" dirty="0"/>
          </a:p>
        </p:txBody>
      </p:sp>
      <p:sp>
        <p:nvSpPr>
          <p:cNvPr id="60" name="Shape 55"/>
          <p:cNvSpPr/>
          <p:nvPr/>
        </p:nvSpPr>
        <p:spPr>
          <a:xfrm>
            <a:off x="7040880" y="4686300"/>
            <a:ext cx="1463040" cy="23317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086600" y="4686300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</a:t>
            </a:r>
            <a:endParaRPr lang="en-US" sz="750" dirty="0"/>
          </a:p>
        </p:txBody>
      </p:sp>
      <p:sp>
        <p:nvSpPr>
          <p:cNvPr id="62" name="Shape 31">
            <a:extLst>
              <a:ext uri="{FF2B5EF4-FFF2-40B4-BE49-F238E27FC236}">
                <a16:creationId xmlns:a16="http://schemas.microsoft.com/office/drawing/2014/main" id="{7518B01D-A1D8-EDB9-ECA5-396C219FE3EF}"/>
              </a:ext>
            </a:extLst>
          </p:cNvPr>
          <p:cNvSpPr/>
          <p:nvPr/>
        </p:nvSpPr>
        <p:spPr>
          <a:xfrm>
            <a:off x="8771206" y="4830845"/>
            <a:ext cx="295421" cy="274320"/>
          </a:xfrm>
          <a:prstGeom prst="ellipse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460A5511-E6B0-118F-0C9D-DF82BB3F76DD}"/>
              </a:ext>
            </a:extLst>
          </p:cNvPr>
          <p:cNvSpPr txBox="1"/>
          <p:nvPr/>
        </p:nvSpPr>
        <p:spPr>
          <a:xfrm>
            <a:off x="6632916" y="4844894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 /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E"/>
                </a:solidFill>
              </a:rPr>
              <a:t>Topologie des Microservices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057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057400" cy="50292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service-api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8928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9BBF"/>
                </a:solidFill>
              </a:rPr>
              <a:t>Gateway · :5000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224028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B2E"/>
                </a:solidFill>
              </a:rPr>
              <a:t>Point d'entrée externe.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B2E"/>
                </a:solidFill>
              </a:rPr>
              <a:t>Orchestre les appels.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B2E"/>
                </a:solidFill>
              </a:rPr>
              <a:t>Expose /api/orders et /api/products.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371600"/>
            <a:ext cx="2057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371600"/>
            <a:ext cx="2057400" cy="50292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371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service-orders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06040" y="18928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9BBF"/>
                </a:solidFill>
              </a:rPr>
              <a:t>:5001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15768" y="224028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B2E"/>
                </a:solidFill>
              </a:rPr>
              <a:t>Création et suivi des commandes.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B2E"/>
                </a:solidFill>
              </a:rPr>
              <a:t>Simule N+1, lock contention,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B2E"/>
                </a:solidFill>
              </a:rPr>
              <a:t>retry storms.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2057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371600"/>
            <a:ext cx="205740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371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service-inventory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18928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9BBF"/>
                </a:solidFill>
              </a:rPr>
              <a:t>:5002 (feuille)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56048" y="224028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B2E"/>
                </a:solidFill>
              </a:rPr>
              <a:t>Gestion du stock.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B2E"/>
                </a:solidFill>
              </a:rPr>
              <a:t>Simule full table scan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B2E"/>
                </a:solidFill>
              </a:rPr>
              <a:t>(index manquant).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86600" y="1371600"/>
            <a:ext cx="2057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86600" y="1371600"/>
            <a:ext cx="2057400" cy="5029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1371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service-notifications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86600" y="18928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9BBF"/>
                </a:solidFill>
              </a:rPr>
              <a:t>:5003 (feuille)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96328" y="224028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B2E"/>
                </a:solidFill>
              </a:rPr>
              <a:t>Envoi email/SMS/push.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B2E"/>
                </a:solidFill>
              </a:rPr>
              <a:t>Simule timeout API externe,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B2E"/>
                </a:solidFill>
              </a:rPr>
              <a:t>slow template rendering.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7947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8FDB"/>
                </a:solidFill>
              </a:rPr>
              <a:t>Flux d'une requête de création de </a:t>
            </a:r>
            <a:r>
              <a:rPr lang="en-US" sz="1200" b="1" dirty="0" err="1">
                <a:solidFill>
                  <a:srgbClr val="1B8FDB"/>
                </a:solidFill>
              </a:rPr>
              <a:t>commande</a:t>
            </a:r>
            <a:r>
              <a:rPr lang="en-US" sz="1200" b="1" dirty="0">
                <a:solidFill>
                  <a:srgbClr val="1B8FDB"/>
                </a:solidFill>
              </a:rPr>
              <a:t> : POST /api/orders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114800"/>
            <a:ext cx="8412480" cy="914400"/>
          </a:xfrm>
          <a:prstGeom prst="rect">
            <a:avLst/>
          </a:prstGeom>
          <a:solidFill>
            <a:srgbClr val="0D2237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D"/>
                </a:solidFill>
              </a:rPr>
              <a:t>1. Client → service-api : POST /api/orders     →     2. service-api → service-inventory : POST /inventory/check     →     3. service-api → service-orders : POST /orders     →     4. service-orders → service-inventory : POST /inventory/reserve     →     5. service-orders → service-notifications : POST /notify     →     6. service-orders → service-api → Client : réponse JSON avec order_id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C9A7"/>
                </a:solidFill>
              </a:rPr>
              <a:t>Chaque appel HTTP propage le contexte W3C via l'en-tête traceparent → arbre de spans complet en un seul graphe.</a:t>
            </a:r>
            <a:endParaRPr lang="en-US" sz="900" dirty="0"/>
          </a:p>
        </p:txBody>
      </p:sp>
      <p:sp>
        <p:nvSpPr>
          <p:cNvPr id="33" name="Shape 43">
            <a:extLst>
              <a:ext uri="{FF2B5EF4-FFF2-40B4-BE49-F238E27FC236}">
                <a16:creationId xmlns:a16="http://schemas.microsoft.com/office/drawing/2014/main" id="{FB19F242-3C9E-0A93-50C9-43F298576839}"/>
              </a:ext>
            </a:extLst>
          </p:cNvPr>
          <p:cNvSpPr/>
          <p:nvPr/>
        </p:nvSpPr>
        <p:spPr>
          <a:xfrm>
            <a:off x="8806375" y="4800600"/>
            <a:ext cx="292608" cy="30175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46BF25D2-E265-C69B-66A1-58D4D191133E}"/>
              </a:ext>
            </a:extLst>
          </p:cNvPr>
          <p:cNvSpPr txBox="1"/>
          <p:nvPr/>
        </p:nvSpPr>
        <p:spPr>
          <a:xfrm>
            <a:off x="8820775" y="4828365"/>
            <a:ext cx="46528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fr-FR" sz="10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 /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8F4FD"/>
                </a:solidFill>
              </a:rPr>
              <a:t>Instrumentation OpenTelemetry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1737360"/>
          </a:xfrm>
          <a:prstGeom prst="rect">
            <a:avLst/>
          </a:prstGeom>
          <a:solidFill>
            <a:srgbClr val="0D2040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17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8FDB"/>
                </a:solidFill>
              </a:rPr>
              <a:t>Propagation W3C TraceContext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0352" y="187452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traceparent : 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version-traceid-parentid-flags</a:t>
            </a:r>
            <a:endParaRPr lang="en-US" sz="900" dirty="0"/>
          </a:p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00-4bf92f3577b34da6a3ce929d0e0e4736-...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</a:rPr>
              <a:t>tracestate : 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</a:rPr>
              <a:t>métadonnées spécifiques vendeurs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63440" y="1298448"/>
            <a:ext cx="4114800" cy="1737360"/>
          </a:xfrm>
          <a:prstGeom prst="rect">
            <a:avLst/>
          </a:prstGeom>
          <a:solidFill>
            <a:srgbClr val="0D2040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417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417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Attributs d'un Span instrumenté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00600" y="18745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service.name = service-orders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db.statement = INSERT INTO orders...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order.id = ord-test-0042 (custom)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latency.scenario = n_plus_one (custom)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downstream.service = service-inventory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365760" y="32004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Pipeline OpenTelemetry Collector : 3 pipelines indépendants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65760" y="3547872"/>
            <a:ext cx="1051560" cy="2743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5" name="Text 11"/>
          <p:cNvSpPr/>
          <p:nvPr/>
        </p:nvSpPr>
        <p:spPr>
          <a:xfrm>
            <a:off x="365760" y="35478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Pipeline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1463040" y="3547872"/>
            <a:ext cx="2240280" cy="2743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7" name="Text 13"/>
          <p:cNvSpPr/>
          <p:nvPr/>
        </p:nvSpPr>
        <p:spPr>
          <a:xfrm>
            <a:off x="1463040" y="3547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Receivers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749040" y="3547872"/>
            <a:ext cx="2606040" cy="2743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9" name="Text 15"/>
          <p:cNvSpPr/>
          <p:nvPr/>
        </p:nvSpPr>
        <p:spPr>
          <a:xfrm>
            <a:off x="3749040" y="3547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Processors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400800" y="3547872"/>
            <a:ext cx="2377440" cy="2743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0" y="3547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Exporters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65760" y="3822192"/>
            <a:ext cx="1051560" cy="365760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1480" y="382219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1463040" y="3822192"/>
            <a:ext cx="2240280" cy="365760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508760" y="382219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otlp (gRPC:4317 + HTTP:4318)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3749040" y="3822192"/>
            <a:ext cx="2606040" cy="365760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794760" y="38221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memory_limiter → resource → batch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6400800" y="3822192"/>
            <a:ext cx="2377440" cy="365760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46520" y="3822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otlp/tempo → debug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365760" y="4187952"/>
            <a:ext cx="1051560" cy="365760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11480" y="418795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1463040" y="4187952"/>
            <a:ext cx="2240280" cy="365760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508760" y="418795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otlp + prometheus (self-scrape)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3749040" y="4187952"/>
            <a:ext cx="2606040" cy="365760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794760" y="41879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memory_limiter → batch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6400800" y="4187952"/>
            <a:ext cx="2377440" cy="365760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446520" y="4187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 remote-write + exporter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365760" y="4553712"/>
            <a:ext cx="1051560" cy="365760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11480" y="455371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1463040" y="4553712"/>
            <a:ext cx="2240280" cy="365760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508760" y="455371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otlp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3749040" y="4553712"/>
            <a:ext cx="2606040" cy="365760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794760" y="45537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memory_limiter → batch</a:t>
            </a:r>
            <a:endParaRPr lang="en-US" sz="750" dirty="0"/>
          </a:p>
        </p:txBody>
      </p:sp>
      <p:sp>
        <p:nvSpPr>
          <p:cNvPr id="44" name="Shape 40"/>
          <p:cNvSpPr/>
          <p:nvPr/>
        </p:nvSpPr>
        <p:spPr>
          <a:xfrm>
            <a:off x="6400800" y="4553712"/>
            <a:ext cx="2377440" cy="365760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446520" y="45537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 (Loki via Promtail)</a:t>
            </a:r>
            <a:endParaRPr lang="en-US" sz="750" dirty="0"/>
          </a:p>
        </p:txBody>
      </p:sp>
      <p:sp>
        <p:nvSpPr>
          <p:cNvPr id="46" name="Shape 55">
            <a:extLst>
              <a:ext uri="{FF2B5EF4-FFF2-40B4-BE49-F238E27FC236}">
                <a16:creationId xmlns:a16="http://schemas.microsoft.com/office/drawing/2014/main" id="{81458FD4-F7C0-8970-E46E-C62D00F365E2}"/>
              </a:ext>
            </a:extLst>
          </p:cNvPr>
          <p:cNvSpPr/>
          <p:nvPr/>
        </p:nvSpPr>
        <p:spPr>
          <a:xfrm>
            <a:off x="8823960" y="4785828"/>
            <a:ext cx="274320" cy="292959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B87E7734-CBC9-9568-5C46-7B625EF97BAF}"/>
              </a:ext>
            </a:extLst>
          </p:cNvPr>
          <p:cNvSpPr txBox="1"/>
          <p:nvPr/>
        </p:nvSpPr>
        <p:spPr>
          <a:xfrm>
            <a:off x="6675120" y="482022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 /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E"/>
                </a:solidFill>
              </a:rPr>
              <a:t>Corrélation Traces / Logs / Métriques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1600200" cy="32004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984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Navigation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20240" y="1298448"/>
            <a:ext cx="2880360" cy="32004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12984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Mécanisme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1298448"/>
            <a:ext cx="4069080" cy="32004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9844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Configuration Grafana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618488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618488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8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→ Log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20240" y="1618488"/>
            <a:ext cx="2880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618488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TraceID span Tempo → requête Loki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46320" y="1618488"/>
            <a:ext cx="4069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618488"/>
            <a:ext cx="3922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tracesToLogsV2 : filtre trace_id="${__trace.traceId}"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121408"/>
            <a:ext cx="1600200" cy="502920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121408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8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→ Trace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20240" y="2121408"/>
            <a:ext cx="2880360" cy="502920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93392" y="2121408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extraction TraceID dans logs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46320" y="2121408"/>
            <a:ext cx="4069080" cy="502920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121408"/>
            <a:ext cx="3922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derivedFields : regex "trace_id":"([a-f0-9]{32})"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624328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624328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8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→ Métrique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920240" y="2624328"/>
            <a:ext cx="2880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2624328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du span → labels Prometheus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46320" y="2624328"/>
            <a:ext cx="4069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624328"/>
            <a:ext cx="3922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tracesToMetrics : queries RED par service.name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3127248"/>
            <a:ext cx="1600200" cy="502920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127248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8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 → Trace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920240" y="3127248"/>
            <a:ext cx="2880360" cy="502920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93392" y="3127248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Exemplars Prometheus avec trace_id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3127248"/>
            <a:ext cx="4069080" cy="502920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127248"/>
            <a:ext cx="3922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exemplarTraceIdDestinations → UID Tempo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31120" y="37947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Dashboard RED et Service Graph : 4 sections (une par service)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" y="4133088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65760" y="4187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8FDB"/>
                </a:solidFill>
              </a:rPr>
              <a:t>Rate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462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sum(rate(flask_http_request_total[5m]))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423160" y="4133088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514600" y="4187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855"/>
                </a:solidFill>
              </a:rPr>
              <a:t>Errors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514600" y="4462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5xx / total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0" y="4133088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63440" y="4187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Duration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0" y="4462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histogram_quantile(0.50/0.95/0.99,...)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720840" y="4133088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812280" y="4187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Service Graph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812280" y="4462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nodeGraph — dépendances inter-services</a:t>
            </a:r>
            <a:endParaRPr lang="en-US" sz="750" dirty="0"/>
          </a:p>
        </p:txBody>
      </p:sp>
      <p:sp>
        <p:nvSpPr>
          <p:cNvPr id="48" name="Shape 67">
            <a:extLst>
              <a:ext uri="{FF2B5EF4-FFF2-40B4-BE49-F238E27FC236}">
                <a16:creationId xmlns:a16="http://schemas.microsoft.com/office/drawing/2014/main" id="{9D76E770-925B-FA0D-26DB-5ABF9542E070}"/>
              </a:ext>
            </a:extLst>
          </p:cNvPr>
          <p:cNvSpPr/>
          <p:nvPr/>
        </p:nvSpPr>
        <p:spPr>
          <a:xfrm>
            <a:off x="8823960" y="4754880"/>
            <a:ext cx="271440" cy="29260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BB374571-2B1D-286D-4008-5EB87628262D}"/>
              </a:ext>
            </a:extLst>
          </p:cNvPr>
          <p:cNvSpPr txBox="1"/>
          <p:nvPr/>
        </p:nvSpPr>
        <p:spPr>
          <a:xfrm>
            <a:off x="6675120" y="4773835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 /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E"/>
                </a:solidFill>
              </a:rPr>
              <a:t>5 Scénarios de Latence Analysés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BBF"/>
                </a:solidFill>
              </a:rPr>
              <a:t>Identifiés via Grafana Explore  (Rapport L4)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548640" cy="36576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72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572768"/>
            <a:ext cx="2194560" cy="36576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Scénario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1572768"/>
            <a:ext cx="1920240" cy="36576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5727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1572768"/>
            <a:ext cx="1463040" cy="36576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Durée typique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572768"/>
            <a:ext cx="2377440" cy="36576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Attribut OTel clé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938528"/>
            <a:ext cx="548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1938528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1938528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1938528"/>
            <a:ext cx="1463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938528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020824"/>
            <a:ext cx="365760" cy="365760"/>
          </a:xfrm>
          <a:prstGeom prst="ellipse">
            <a:avLst/>
          </a:prstGeom>
          <a:solidFill>
            <a:srgbClr val="E55A00"/>
          </a:solidFill>
          <a:ln/>
        </p:spPr>
      </p:sp>
      <p:sp>
        <p:nvSpPr>
          <p:cNvPr id="22" name="Text 20"/>
          <p:cNvSpPr/>
          <p:nvPr/>
        </p:nvSpPr>
        <p:spPr>
          <a:xfrm>
            <a:off x="414997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193852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E"/>
                </a:solidFill>
              </a:rPr>
              <a:t>N+1 Queries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63240" y="193852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BBF"/>
                </a:solidFill>
              </a:rPr>
              <a:t>service-orders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83480" y="2048256"/>
            <a:ext cx="1371600" cy="310896"/>
          </a:xfrm>
          <a:prstGeom prst="rect">
            <a:avLst/>
          </a:prstGeom>
          <a:solidFill>
            <a:srgbClr val="E55A00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0482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5A00"/>
                </a:solidFill>
              </a:rPr>
              <a:t>300-900ms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46520" y="193852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antipattern=n_plus_one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2505456"/>
            <a:ext cx="54864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2505456"/>
            <a:ext cx="21945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17520" y="2505456"/>
            <a:ext cx="192024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2505456"/>
            <a:ext cx="146304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2505456"/>
            <a:ext cx="237744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2587752"/>
            <a:ext cx="365760" cy="36576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8680" y="250545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E"/>
                </a:solidFill>
              </a:rPr>
              <a:t>Lock Contention DB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063240" y="2505456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BBF"/>
                </a:solidFill>
              </a:rPr>
              <a:t>service-orders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83480" y="2615184"/>
            <a:ext cx="1371600" cy="310896"/>
          </a:xfrm>
          <a:prstGeom prst="rect">
            <a:avLst/>
          </a:prstGeom>
          <a:solidFill>
            <a:srgbClr val="E84855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26151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4855"/>
                </a:solidFill>
              </a:rPr>
              <a:t>300-800ms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46520" y="250545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lock.type=row_exclusive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3072384"/>
            <a:ext cx="548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" y="3072384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17520" y="3072384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37760" y="3072384"/>
            <a:ext cx="1463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3072384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15468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68680" y="307238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E"/>
                </a:solidFill>
              </a:rPr>
              <a:t>Retry Storm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063240" y="307238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BBF"/>
                </a:solidFill>
              </a:rPr>
              <a:t>orders→notifications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83480" y="3182112"/>
            <a:ext cx="1371600" cy="310896"/>
          </a:xfrm>
          <a:prstGeom prst="rect">
            <a:avLst/>
          </a:prstGeom>
          <a:solidFill>
            <a:srgbClr val="F5A623">
              <a:alpha val="1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983480" y="31821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</a:rPr>
              <a:t>700ms-1.5s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446520" y="307238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retry.attempt=0/1/2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3639312"/>
            <a:ext cx="54864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2960" y="3639312"/>
            <a:ext cx="21945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017520" y="3639312"/>
            <a:ext cx="192024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37760" y="3639312"/>
            <a:ext cx="146304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0800" y="3639312"/>
            <a:ext cx="237744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1480" y="3721608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58" name="Text 56"/>
          <p:cNvSpPr/>
          <p:nvPr/>
        </p:nvSpPr>
        <p:spPr>
          <a:xfrm>
            <a:off x="411480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68680" y="3639312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E"/>
                </a:solidFill>
              </a:rPr>
              <a:t>External API Timeout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3063240" y="363931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BBF"/>
                </a:solidFill>
              </a:rPr>
              <a:t>service-notifications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983480" y="3749040"/>
            <a:ext cx="1371600" cy="310896"/>
          </a:xfrm>
          <a:prstGeom prst="rect">
            <a:avLst/>
          </a:prstGeom>
          <a:solidFill>
            <a:srgbClr val="9B59B6">
              <a:alpha val="1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4983480" y="3749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B59B6"/>
                </a:solidFill>
              </a:rPr>
              <a:t>1.5-4s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446520" y="363931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external_api.timeout=true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74320" y="4206240"/>
            <a:ext cx="548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2960" y="4206240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017520" y="4206240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937760" y="4206240"/>
            <a:ext cx="1463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0" y="4206240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11480" y="4288536"/>
            <a:ext cx="365760" cy="36576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70" name="Text 68"/>
          <p:cNvSpPr/>
          <p:nvPr/>
        </p:nvSpPr>
        <p:spPr>
          <a:xfrm>
            <a:off x="41148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68680" y="420624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E"/>
                </a:solidFill>
              </a:rPr>
              <a:t>Full Table Scan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3063240" y="420624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BBF"/>
                </a:solidFill>
              </a:rPr>
              <a:t>service-inventory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983480" y="4315968"/>
            <a:ext cx="1371600" cy="310896"/>
          </a:xfrm>
          <a:prstGeom prst="rect">
            <a:avLst/>
          </a:prstGeom>
          <a:solidFill>
            <a:srgbClr val="00C9A7">
              <a:alpha val="1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4983480" y="43159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9A7"/>
                </a:solidFill>
              </a:rPr>
              <a:t>100-300ms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446520" y="420624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antipattern=missing_index</a:t>
            </a:r>
            <a:endParaRPr lang="en-US" sz="800" dirty="0"/>
          </a:p>
        </p:txBody>
      </p:sp>
      <p:sp>
        <p:nvSpPr>
          <p:cNvPr id="76" name="Shape 19">
            <a:extLst>
              <a:ext uri="{FF2B5EF4-FFF2-40B4-BE49-F238E27FC236}">
                <a16:creationId xmlns:a16="http://schemas.microsoft.com/office/drawing/2014/main" id="{3427A2F7-DEFE-2E0A-1E53-5866A96A0863}"/>
              </a:ext>
            </a:extLst>
          </p:cNvPr>
          <p:cNvSpPr/>
          <p:nvPr/>
        </p:nvSpPr>
        <p:spPr>
          <a:xfrm>
            <a:off x="8764171" y="4762080"/>
            <a:ext cx="291905" cy="305973"/>
          </a:xfrm>
          <a:prstGeom prst="ellipse">
            <a:avLst/>
          </a:prstGeom>
          <a:solidFill>
            <a:srgbClr val="E55A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F7B6CA7C-3255-B7A9-E9E3-077260557C89}"/>
              </a:ext>
            </a:extLst>
          </p:cNvPr>
          <p:cNvSpPr txBox="1"/>
          <p:nvPr/>
        </p:nvSpPr>
        <p:spPr>
          <a:xfrm>
            <a:off x="6624123" y="4791955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 /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E8F4FD"/>
                </a:solidFill>
              </a:rPr>
              <a:t>Détails</a:t>
            </a:r>
            <a:r>
              <a:rPr lang="en-US" sz="2600" b="1" dirty="0">
                <a:solidFill>
                  <a:srgbClr val="E8F4FD"/>
                </a:solidFill>
              </a:rPr>
              <a:t> : Scénarios #1 et #2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3520440"/>
          </a:xfrm>
          <a:prstGeom prst="rect">
            <a:avLst/>
          </a:prstGeom>
          <a:solidFill>
            <a:srgbClr val="0D2040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4114800" cy="457200"/>
          </a:xfrm>
          <a:prstGeom prst="rect">
            <a:avLst/>
          </a:prstGeom>
          <a:solidFill>
            <a:srgbClr val="E55A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#1 : N+1 Queries (service-orders)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TraceQL : 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.latency.scenario = "n_plus_one" &amp;&amp; duration &gt; 200ms 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4855"/>
                </a:solidFill>
              </a:rPr>
              <a:t>Goulot : </a:t>
            </a:r>
            <a:endParaRPr lang="en-US" sz="950" dirty="0"/>
          </a:p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</a:rPr>
              <a:t>orders.db.n_plus_one_queries = 556 ms sur 712 ms (78%). 4 spans check_item_X en série au lieu d'une requête batch IN(...).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329184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</a:rPr>
              <a:t>Correction : </a:t>
            </a:r>
            <a:endParaRPr lang="en-US" sz="950" dirty="0"/>
          </a:p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</a:rPr>
              <a:t>Requête batch IN(), eager loading ORM, cache Redis.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4023360"/>
            <a:ext cx="3840480" cy="640080"/>
          </a:xfrm>
          <a:prstGeom prst="rect">
            <a:avLst/>
          </a:prstGeom>
          <a:solidFill>
            <a:srgbClr val="00C9A7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</a:rPr>
              <a:t>Gain estimé : </a:t>
            </a:r>
            <a:endParaRPr lang="en-US" sz="10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556 ms → 15-30 ms  (facteur 20x)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520440"/>
          </a:xfrm>
          <a:prstGeom prst="rect">
            <a:avLst/>
          </a:prstGeom>
          <a:solidFill>
            <a:srgbClr val="0D2040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4114800" cy="45720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#2 : Lock Contention DB (service-orders)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8288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TraceQL : 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.latency.scenario = "lock_contention" &amp;&amp; duration &gt; 300ms 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233172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4855"/>
                </a:solidFill>
              </a:rPr>
              <a:t>Goulot : </a:t>
            </a:r>
            <a:endParaRPr lang="en-US" sz="950" dirty="0"/>
          </a:p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</a:rPr>
              <a:t>orders.db.lock_wait = 623 ms (70% de la trace). Attente d'un verrou row_exclusive détenu par une transaction concurrente.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0600" y="329184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</a:rPr>
              <a:t>Correction : </a:t>
            </a:r>
            <a:endParaRPr lang="en-US" sz="950" dirty="0"/>
          </a:p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</a:rPr>
              <a:t>SELECT ... FOR UPDATE SKIP LOCKED, timeout de verrou explicite, pattern CQRS.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4023360"/>
            <a:ext cx="3840480" cy="640080"/>
          </a:xfrm>
          <a:prstGeom prst="rect">
            <a:avLst/>
          </a:prstGeom>
          <a:solidFill>
            <a:srgbClr val="00C9A7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</a:rPr>
              <a:t>Gain estimé : </a:t>
            </a:r>
            <a:endParaRPr lang="en-US" sz="10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623 ms → quasi-nul (SKIP LOCKED)</a:t>
            </a:r>
            <a:endParaRPr lang="en-US" sz="1000" dirty="0"/>
          </a:p>
        </p:txBody>
      </p:sp>
      <p:sp>
        <p:nvSpPr>
          <p:cNvPr id="21" name="Shape 31">
            <a:extLst>
              <a:ext uri="{FF2B5EF4-FFF2-40B4-BE49-F238E27FC236}">
                <a16:creationId xmlns:a16="http://schemas.microsoft.com/office/drawing/2014/main" id="{DF8B35A9-2FF2-6948-72C3-E4E948D864AD}"/>
              </a:ext>
            </a:extLst>
          </p:cNvPr>
          <p:cNvSpPr/>
          <p:nvPr/>
        </p:nvSpPr>
        <p:spPr>
          <a:xfrm>
            <a:off x="8835120" y="4807800"/>
            <a:ext cx="252000" cy="28980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DF596E5-514C-80E3-EEE0-9A2CBA2E30CD}"/>
              </a:ext>
            </a:extLst>
          </p:cNvPr>
          <p:cNvSpPr txBox="1"/>
          <p:nvPr/>
        </p:nvSpPr>
        <p:spPr>
          <a:xfrm>
            <a:off x="6675120" y="4846320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 /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E8F4FD"/>
                </a:solidFill>
              </a:rPr>
              <a:t>Détails</a:t>
            </a:r>
            <a:r>
              <a:rPr lang="en-US" sz="2500" b="1" dirty="0">
                <a:solidFill>
                  <a:srgbClr val="E8F4FD"/>
                </a:solidFill>
              </a:rPr>
              <a:t> : Scénarios #3, #4 et #5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788920" cy="3520440"/>
          </a:xfrm>
          <a:prstGeom prst="rect">
            <a:avLst/>
          </a:prstGeom>
          <a:solidFill>
            <a:srgbClr val="0D2040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278892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#3 : Retry Storm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" y="190195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4855"/>
                </a:solidFill>
              </a:rPr>
              <a:t>Goulot : </a:t>
            </a:r>
            <a:endParaRPr lang="en-US" sz="850" dirty="0"/>
          </a:p>
          <a:p>
            <a:pPr marL="0" indent="0">
              <a:buNone/>
            </a:pPr>
            <a:r>
              <a:rPr lang="en-US" sz="800" dirty="0">
                <a:solidFill>
                  <a:srgbClr val="E8F4FD"/>
                </a:solidFill>
              </a:rPr>
              <a:t>3 retries en série (100+200+400=700ms, 64% de la trace). Backoff exponentiel, cause racine : service-notifications instable.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" y="3246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</a:rPr>
              <a:t>Correction : </a:t>
            </a:r>
            <a:endParaRPr lang="en-US" sz="850" dirty="0"/>
          </a:p>
          <a:p>
            <a:pPr marL="0" indent="0">
              <a:buNone/>
            </a:pPr>
            <a:r>
              <a:rPr lang="en-US" sz="800" dirty="0">
                <a:solidFill>
                  <a:srgbClr val="E8F4FD"/>
                </a:solidFill>
              </a:rPr>
              <a:t>Circuit breaker (tenacity), file async (RabbitMQ/Kafka), jitter aléatoire.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9768" y="4206240"/>
            <a:ext cx="2560320" cy="502920"/>
          </a:xfrm>
          <a:prstGeom prst="rect">
            <a:avLst/>
          </a:prstGeom>
          <a:solidFill>
            <a:srgbClr val="00C9A7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700 ms → 0 ms (décorrélation)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788920" cy="3520440"/>
          </a:xfrm>
          <a:prstGeom prst="rect">
            <a:avLst/>
          </a:prstGeom>
          <a:solidFill>
            <a:srgbClr val="0D2040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80160"/>
            <a:ext cx="2788920" cy="5029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4" name="Text 12"/>
          <p:cNvSpPr/>
          <p:nvPr/>
        </p:nvSpPr>
        <p:spPr>
          <a:xfrm>
            <a:off x="3319272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#4 : Timeout API Externe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55848" y="190195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4855"/>
                </a:solidFill>
              </a:rPr>
              <a:t>Goulot : </a:t>
            </a:r>
            <a:endParaRPr lang="en-US" sz="850" dirty="0"/>
          </a:p>
          <a:p>
            <a:pPr marL="0" indent="0">
              <a:buNone/>
            </a:pPr>
            <a:r>
              <a:rPr lang="en-US" sz="800" dirty="0">
                <a:solidFill>
                  <a:srgbClr val="E8F4FD"/>
                </a:solidFill>
              </a:rPr>
              <a:t>notifications.send_email = 1.5s (86% de la trace). Timeout réel 2340ms limité à 1500ms. Fallback en queue déjà en place.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55848" y="3246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</a:rPr>
              <a:t>Correction : </a:t>
            </a:r>
            <a:endParaRPr lang="en-US" sz="850" dirty="0"/>
          </a:p>
          <a:p>
            <a:pPr marL="0" indent="0">
              <a:buNone/>
            </a:pPr>
            <a:r>
              <a:rPr lang="en-US" sz="800" dirty="0">
                <a:solidFill>
                  <a:srgbClr val="E8F4FD"/>
                </a:solidFill>
              </a:rPr>
              <a:t>Notification 100% asynchrone (Celery/RQ), monitoring SLA p95.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55848" y="4206240"/>
            <a:ext cx="2560320" cy="502920"/>
          </a:xfrm>
          <a:prstGeom prst="rect">
            <a:avLst/>
          </a:prstGeom>
          <a:solidFill>
            <a:srgbClr val="00C9A7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355848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1500 ms → 0 ms (async)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07400" y="1265760"/>
            <a:ext cx="2788920" cy="3520440"/>
          </a:xfrm>
          <a:prstGeom prst="rect">
            <a:avLst/>
          </a:prstGeom>
          <a:solidFill>
            <a:srgbClr val="0D2040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280160"/>
            <a:ext cx="2788920" cy="5029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1" name="Text 19"/>
          <p:cNvSpPr/>
          <p:nvPr/>
        </p:nvSpPr>
        <p:spPr>
          <a:xfrm>
            <a:off x="6245352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#5 : Full Table Scan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81928" y="190195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4855"/>
                </a:solidFill>
              </a:rPr>
              <a:t>Goulot : </a:t>
            </a:r>
            <a:endParaRPr lang="en-US" sz="850" dirty="0"/>
          </a:p>
          <a:p>
            <a:pPr marL="0" indent="0">
              <a:buNone/>
            </a:pPr>
            <a:r>
              <a:rPr lang="en-US" sz="800" dirty="0">
                <a:solidFill>
                  <a:srgbClr val="E8F4FD"/>
                </a:solidFill>
              </a:rPr>
              <a:t>inventory.db.full_table_scan = 100ms (92%). rows_scanned=50, aucun index sur product_id.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81928" y="3246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</a:rPr>
              <a:t>Correction : </a:t>
            </a:r>
            <a:endParaRPr lang="en-US" sz="850" dirty="0"/>
          </a:p>
          <a:p>
            <a:pPr marL="0" indent="0">
              <a:buNone/>
            </a:pPr>
            <a:r>
              <a:rPr lang="en-US" sz="800" dirty="0">
                <a:solidFill>
                  <a:srgbClr val="E8F4FD"/>
                </a:solidFill>
              </a:rPr>
              <a:t>CREATE INDEX idx_products_product_id, EXPLAIN ANALYZE systématique.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81928" y="4206240"/>
            <a:ext cx="2560320" cy="502920"/>
          </a:xfrm>
          <a:prstGeom prst="rect">
            <a:avLst/>
          </a:prstGeom>
          <a:solidFill>
            <a:srgbClr val="00C9A7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81928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200 ms → 1-3 ms</a:t>
            </a:r>
            <a:endParaRPr lang="en-US" sz="950" dirty="0"/>
          </a:p>
        </p:txBody>
      </p:sp>
      <p:sp>
        <p:nvSpPr>
          <p:cNvPr id="26" name="Shape 43">
            <a:extLst>
              <a:ext uri="{FF2B5EF4-FFF2-40B4-BE49-F238E27FC236}">
                <a16:creationId xmlns:a16="http://schemas.microsoft.com/office/drawing/2014/main" id="{2A68FC9F-8EBC-D75E-2D6E-54ECBB039C26}"/>
              </a:ext>
            </a:extLst>
          </p:cNvPr>
          <p:cNvSpPr/>
          <p:nvPr/>
        </p:nvSpPr>
        <p:spPr>
          <a:xfrm>
            <a:off x="8897112" y="4860000"/>
            <a:ext cx="246888" cy="2835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47B3C45-E96B-70A8-FBCC-B396B6B47405}"/>
              </a:ext>
            </a:extLst>
          </p:cNvPr>
          <p:cNvSpPr txBox="1"/>
          <p:nvPr/>
        </p:nvSpPr>
        <p:spPr>
          <a:xfrm>
            <a:off x="6734556" y="487475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 /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E"/>
                </a:solidFill>
              </a:rPr>
              <a:t>Synthèse des 5 Scénarios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57200" cy="36576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#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2103120" cy="36576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Scénario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34640" y="1325880"/>
            <a:ext cx="1371600" cy="36576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Durée observée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06240" y="1325880"/>
            <a:ext cx="1188720" cy="36576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325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Gain estimé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94960" y="1325880"/>
            <a:ext cx="2743200" cy="365760"/>
          </a:xfrm>
          <a:prstGeom prst="rect">
            <a:avLst/>
          </a:prstGeom>
          <a:solidFill>
            <a:srgbClr val="1B8FDB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Correction principale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169164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6916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E"/>
                </a:solidFill>
              </a:rPr>
              <a:t>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169164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169164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E"/>
                </a:solidFill>
              </a:rPr>
              <a:t>N+1 Queries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34640" y="169164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9504" y="16916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E"/>
                </a:solidFill>
              </a:rPr>
              <a:t>556 ms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06240" y="169164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61104" y="1691640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-97%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169164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9824" y="16916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E"/>
                </a:solidFill>
              </a:rPr>
              <a:t>Requête batch IN(id1, id2, ...)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167128"/>
            <a:ext cx="457200" cy="457200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2167128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E"/>
                </a:solidFill>
              </a:rPr>
              <a:t>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2167128"/>
            <a:ext cx="2103120" cy="457200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216712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E"/>
                </a:solidFill>
              </a:rPr>
              <a:t>Lock Contention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34640" y="2167128"/>
            <a:ext cx="1371600" cy="457200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9504" y="2167128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E"/>
                </a:solidFill>
              </a:rPr>
              <a:t>623 ms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06240" y="2167128"/>
            <a:ext cx="1188720" cy="457200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61104" y="2167128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-99%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94960" y="2167128"/>
            <a:ext cx="2743200" cy="457200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9824" y="2167128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E"/>
                </a:solidFill>
              </a:rPr>
              <a:t>FOR UPDATE SKIP LOCKED + lock timeout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642616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2642616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E"/>
                </a:solidFill>
              </a:rPr>
              <a:t>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1520" y="2642616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2642616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E"/>
                </a:solidFill>
              </a:rPr>
              <a:t>Retry Storm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34640" y="2642616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9504" y="2642616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E"/>
                </a:solidFill>
              </a:rPr>
              <a:t>700 ms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06240" y="2642616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61104" y="2642616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-100%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394960" y="2642616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49824" y="2642616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E"/>
                </a:solidFill>
              </a:rPr>
              <a:t>Circuit breaker + async (file de messages)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3118104"/>
            <a:ext cx="457200" cy="457200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3118104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E"/>
                </a:solidFill>
              </a:rPr>
              <a:t>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1520" y="3118104"/>
            <a:ext cx="2103120" cy="457200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6384" y="31181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E"/>
                </a:solidFill>
              </a:rPr>
              <a:t>External API Timeout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834640" y="3118104"/>
            <a:ext cx="1371600" cy="457200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89504" y="3118104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E"/>
                </a:solidFill>
              </a:rPr>
              <a:t>1500 ms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206240" y="3118104"/>
            <a:ext cx="1188720" cy="457200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61104" y="3118104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-100%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394960" y="3118104"/>
            <a:ext cx="2743200" cy="457200"/>
          </a:xfrm>
          <a:prstGeom prst="rect">
            <a:avLst/>
          </a:prstGeom>
          <a:solidFill>
            <a:srgbClr val="F4F8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49824" y="3118104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E"/>
                </a:solidFill>
              </a:rPr>
              <a:t>Notification entièrement asynchrone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3593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" y="359359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E"/>
                </a:solidFill>
              </a:rPr>
              <a:t>5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31520" y="3593592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6384" y="359359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E"/>
                </a:solidFill>
              </a:rPr>
              <a:t>Full Table Scan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834640" y="3593592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89504" y="359359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E"/>
                </a:solidFill>
              </a:rPr>
              <a:t>200 ms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206240" y="3593592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61104" y="359359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-98%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394960" y="3593592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49824" y="359359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E"/>
                </a:solidFill>
              </a:rPr>
              <a:t>CREATE INDEX idx_products_product_id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74320" y="4160520"/>
            <a:ext cx="8595360" cy="868680"/>
          </a:xfrm>
          <a:prstGeom prst="rect">
            <a:avLst/>
          </a:prstGeom>
          <a:solidFill>
            <a:srgbClr val="0D2237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70832"/>
            <a:ext cx="384048" cy="384048"/>
          </a:xfrm>
          <a:prstGeom prst="rect">
            <a:avLst/>
          </a:prstGeom>
        </p:spPr>
      </p:pic>
      <p:sp>
        <p:nvSpPr>
          <p:cNvPr id="67" name="Text 64"/>
          <p:cNvSpPr/>
          <p:nvPr/>
        </p:nvSpPr>
        <p:spPr>
          <a:xfrm>
            <a:off x="1005840" y="420624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Mean Time To Diagnose (MTTD)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Avec outils séparés : 30-60 minutes   →   Avec Grafana Explore (trace → log → métrique) : moins de 5 minutes</a:t>
            </a:r>
            <a:endParaRPr lang="en-US" sz="1200" dirty="0"/>
          </a:p>
        </p:txBody>
      </p:sp>
      <p:sp>
        <p:nvSpPr>
          <p:cNvPr id="70" name="Shape 55">
            <a:extLst>
              <a:ext uri="{FF2B5EF4-FFF2-40B4-BE49-F238E27FC236}">
                <a16:creationId xmlns:a16="http://schemas.microsoft.com/office/drawing/2014/main" id="{486342A5-F16C-6ECE-CF5F-03A2F31CCA76}"/>
              </a:ext>
            </a:extLst>
          </p:cNvPr>
          <p:cNvSpPr/>
          <p:nvPr/>
        </p:nvSpPr>
        <p:spPr>
          <a:xfrm>
            <a:off x="8686800" y="11592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B6F924D3-5661-CB7E-4BAE-114616746C8D}"/>
              </a:ext>
            </a:extLst>
          </p:cNvPr>
          <p:cNvSpPr txBox="1"/>
          <p:nvPr/>
        </p:nvSpPr>
        <p:spPr>
          <a:xfrm>
            <a:off x="6583680" y="160020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8F4FD"/>
                </a:solidFill>
              </a:rPr>
              <a:t>Déploiement sur Debian/VMware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8FDB"/>
                </a:solidFill>
              </a:rPr>
              <a:t>Prérequis système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02336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RAM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</a:rPr>
              <a:t>4 Go (8 Go recommandé)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75688"/>
            <a:ext cx="4023360" cy="347472"/>
          </a:xfrm>
          <a:prstGeom prst="rect">
            <a:avLst/>
          </a:prstGeom>
          <a:solidFill>
            <a:srgbClr val="0A1A33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CPU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54480" y="2075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</a:rPr>
              <a:t>2 vCPU min. (4 vCPU recommandé)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459736"/>
            <a:ext cx="402336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597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Disque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54480" y="24597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</a:rPr>
              <a:t>10 Go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843784"/>
            <a:ext cx="4023360" cy="347472"/>
          </a:xfrm>
          <a:prstGeom prst="rect">
            <a:avLst/>
          </a:prstGeom>
          <a:solidFill>
            <a:srgbClr val="0A1A33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437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OS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54480" y="28437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</a:rPr>
              <a:t>Debian 11/12 ou Ubuntu 22.04 LTS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227832"/>
            <a:ext cx="402336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278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Docker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554480" y="32278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</a:rPr>
              <a:t>Engine 24+ / Compose Plugin v2.20+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1325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Commandes Docker utiles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691640"/>
            <a:ext cx="402336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6916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86600" y="16916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9BBF"/>
                </a:solidFill>
              </a:rPr>
              <a:t>Démarrer les services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2075688"/>
            <a:ext cx="4023360" cy="347472"/>
          </a:xfrm>
          <a:prstGeom prst="rect">
            <a:avLst/>
          </a:prstGeom>
          <a:solidFill>
            <a:srgbClr val="0A1A33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0756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086600" y="20756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9BBF"/>
                </a:solidFill>
              </a:rPr>
              <a:t>Arrêter / supprimer conteneurs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2459736"/>
            <a:ext cx="402336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4597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 -v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86600" y="245973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9BBF"/>
                </a:solidFill>
              </a:rPr>
              <a:t>+ supprimer les volumes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2843784"/>
            <a:ext cx="4023360" cy="347472"/>
          </a:xfrm>
          <a:prstGeom prst="rect">
            <a:avLst/>
          </a:prstGeom>
          <a:solidFill>
            <a:srgbClr val="0A1A33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8437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logs -f tempo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086600" y="28437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9BBF"/>
                </a:solidFill>
              </a:rPr>
              <a:t>Logs temps réel Tempo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3227832"/>
            <a:ext cx="402336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2278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086600" y="32278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9BBF"/>
                </a:solidFill>
              </a:rPr>
              <a:t>État des conteneurs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840480"/>
            <a:ext cx="8321040" cy="1371600"/>
          </a:xfrm>
          <a:prstGeom prst="rect">
            <a:avLst/>
          </a:prstGeom>
          <a:solidFill>
            <a:srgbClr val="0D2237"/>
          </a:solidFill>
          <a:ln w="6350">
            <a:solidFill>
              <a:srgbClr val="E2EC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" y="39136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8FDB"/>
                </a:solidFill>
              </a:rPr>
              <a:t>Procédure de déploiement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422452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git clone ... &amp;&amp; cd tp-tracing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chmod +x start.sh &amp;&amp; ./start.sh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pip3 install requests python-json-logger &amp;&amp; python3 test_load.py --duration 300 --rate 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http://localhost:3000 (admin/admin123) → Explore → Tempo → { duration &gt; 500ms }</a:t>
            </a:r>
            <a:endParaRPr lang="en-US" sz="850" dirty="0"/>
          </a:p>
        </p:txBody>
      </p:sp>
      <p:sp>
        <p:nvSpPr>
          <p:cNvPr id="40" name="Shape 67">
            <a:extLst>
              <a:ext uri="{FF2B5EF4-FFF2-40B4-BE49-F238E27FC236}">
                <a16:creationId xmlns:a16="http://schemas.microsoft.com/office/drawing/2014/main" id="{0E439C26-CE5A-769C-1709-C6578F0B37FE}"/>
              </a:ext>
            </a:extLst>
          </p:cNvPr>
          <p:cNvSpPr/>
          <p:nvPr/>
        </p:nvSpPr>
        <p:spPr>
          <a:xfrm>
            <a:off x="8778240" y="4788000"/>
            <a:ext cx="274320" cy="2869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4E8FD790-F141-E6AD-BEC6-6EADBE242FEF}"/>
              </a:ext>
            </a:extLst>
          </p:cNvPr>
          <p:cNvSpPr txBox="1"/>
          <p:nvPr/>
        </p:nvSpPr>
        <p:spPr>
          <a:xfrm>
            <a:off x="6629400" y="480834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1B8FD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C9A7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08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F4FD"/>
                </a:solidFill>
              </a:rPr>
              <a:t>Merci de votre attention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0" y="2229185"/>
            <a:ext cx="36576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5726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A9BBF"/>
                </a:solidFill>
              </a:rPr>
              <a:t>Questions &amp; Réponses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8FDB"/>
                </a:solidFill>
              </a:rPr>
              <a:t>ILOUMBOU Roland Junior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</a:rPr>
              <a:t>ISSAMBOU Jean Samuel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9BBF"/>
                </a:solidFill>
              </a:rPr>
              <a:t>Encadré par M. ONDJIBOU  / Formateur à IAI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4069080"/>
            <a:ext cx="1463040" cy="347472"/>
          </a:xfrm>
          <a:prstGeom prst="rect">
            <a:avLst/>
          </a:prstGeom>
          <a:solidFill>
            <a:srgbClr val="1B8FDB">
              <a:alpha val="20000"/>
            </a:srgbClr>
          </a:solidFill>
          <a:ln w="10160">
            <a:solidFill>
              <a:srgbClr val="1B8F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069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OpenTelemetry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0280" y="4069080"/>
            <a:ext cx="1463040" cy="347472"/>
          </a:xfrm>
          <a:prstGeom prst="rect">
            <a:avLst/>
          </a:prstGeom>
          <a:solidFill>
            <a:srgbClr val="1B8FDB">
              <a:alpha val="20000"/>
            </a:srgbClr>
          </a:solidFill>
          <a:ln w="10160">
            <a:solidFill>
              <a:srgbClr val="1B8F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4069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Grafana Tempo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4069080"/>
            <a:ext cx="1463040" cy="347472"/>
          </a:xfrm>
          <a:prstGeom prst="rect">
            <a:avLst/>
          </a:prstGeom>
          <a:solidFill>
            <a:srgbClr val="1B8FDB">
              <a:alpha val="20000"/>
            </a:srgbClr>
          </a:solidFill>
          <a:ln w="10160">
            <a:solidFill>
              <a:srgbClr val="1B8F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4069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Grafana Loki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40680" y="4069080"/>
            <a:ext cx="1463040" cy="347472"/>
          </a:xfrm>
          <a:prstGeom prst="rect">
            <a:avLst/>
          </a:prstGeom>
          <a:solidFill>
            <a:srgbClr val="1B8FDB">
              <a:alpha val="20000"/>
            </a:srgbClr>
          </a:solidFill>
          <a:ln w="10160">
            <a:solidFill>
              <a:srgbClr val="1B8F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4069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Prometheus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4069080"/>
            <a:ext cx="1463040" cy="347472"/>
          </a:xfrm>
          <a:prstGeom prst="rect">
            <a:avLst/>
          </a:prstGeom>
          <a:solidFill>
            <a:srgbClr val="1B8FDB">
              <a:alpha val="20000"/>
            </a:srgbClr>
          </a:solidFill>
          <a:ln w="10160">
            <a:solidFill>
              <a:srgbClr val="1B8F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069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Docker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IAI Gabon · E-Service Linux · Projet Pratique 03 · Session 2025-2026</a:t>
            </a:r>
            <a:endParaRPr lang="en-US" sz="900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7855DCE6-65EB-667C-27E8-D8D4E4370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1" y="1230537"/>
            <a:ext cx="1997296" cy="1997296"/>
          </a:xfrm>
          <a:prstGeom prst="rect">
            <a:avLst/>
          </a:prstGeom>
        </p:spPr>
      </p:pic>
      <p:sp>
        <p:nvSpPr>
          <p:cNvPr id="22" name="Shape 11">
            <a:extLst>
              <a:ext uri="{FF2B5EF4-FFF2-40B4-BE49-F238E27FC236}">
                <a16:creationId xmlns:a16="http://schemas.microsoft.com/office/drawing/2014/main" id="{15D5998F-D112-1579-5B14-43EEAF9BCB49}"/>
              </a:ext>
            </a:extLst>
          </p:cNvPr>
          <p:cNvSpPr/>
          <p:nvPr/>
        </p:nvSpPr>
        <p:spPr>
          <a:xfrm>
            <a:off x="6400800" y="3299093"/>
            <a:ext cx="2776818" cy="263041"/>
          </a:xfrm>
          <a:prstGeom prst="rect">
            <a:avLst/>
          </a:prstGeom>
          <a:solidFill>
            <a:srgbClr val="1B8FDB">
              <a:alpha val="20000"/>
            </a:srgbClr>
          </a:solidFill>
          <a:ln w="10160">
            <a:solidFill>
              <a:srgbClr val="1B8FDB"/>
            </a:solidFill>
            <a:prstDash val="solid"/>
          </a:ln>
        </p:spPr>
        <p:txBody>
          <a:bodyPr/>
          <a:lstStyle/>
          <a:p>
            <a:r>
              <a:rPr lang="fr-FR" sz="1000" dirty="0">
                <a:solidFill>
                  <a:schemeClr val="bg1"/>
                </a:solidFill>
              </a:rPr>
              <a:t>https://github.com/IRJ-Prime/Distributed_tracing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1948</Words>
  <Application>Microsoft Office PowerPoint</Application>
  <PresentationFormat>Affichage à l'écran (16:9)</PresentationFormat>
  <Paragraphs>354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03 — Distributed Tracing OTel Tempo Grafana</dc:title>
  <dc:subject>IAI Gabon ING2 2025-2026</dc:subject>
  <dc:creator>ILOUMBOU Roland Junior &amp; ISSAMBOU Jean Samuel</dc:creator>
  <cp:lastModifiedBy>IRJ-DDV</cp:lastModifiedBy>
  <cp:revision>9</cp:revision>
  <dcterms:created xsi:type="dcterms:W3CDTF">2026-06-30T19:35:31Z</dcterms:created>
  <dcterms:modified xsi:type="dcterms:W3CDTF">2026-07-01T15:21:54Z</dcterms:modified>
</cp:coreProperties>
</file>